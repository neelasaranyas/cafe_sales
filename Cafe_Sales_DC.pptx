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0" d="100"/>
          <a:sy n="110" d="100"/>
        </p:scale>
        <p:origin x="558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21/09/2026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711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21/09/2026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6729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21/09/2026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92495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21/09/2026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762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21/09/2026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381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21/09/2026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184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21/09/2026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528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21/09/2026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591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21/09/2026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225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21/09/2026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2209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21/09/2026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102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21/09/2026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76268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ptos Display"/>
              </a:defRPr>
            </a:pPr>
            <a:r>
              <a:t>DATA CLEANING MINI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987552"/>
            <a:ext cx="2953373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  <a:latin typeface="Aptos"/>
              </a:defRPr>
            </a:pPr>
            <a:r>
              <a:rPr dirty="0" err="1"/>
              <a:t>Jupyter</a:t>
            </a:r>
            <a:r>
              <a:rPr dirty="0"/>
              <a:t> Notebook • </a:t>
            </a:r>
            <a:r>
              <a:rPr dirty="0" smtClean="0"/>
              <a:t>Caf</a:t>
            </a:r>
            <a:r>
              <a:rPr lang="en-US" dirty="0" smtClean="0"/>
              <a:t>e</a:t>
            </a:r>
            <a:r>
              <a:rPr dirty="0" smtClean="0"/>
              <a:t> </a:t>
            </a:r>
            <a:r>
              <a:rPr dirty="0"/>
              <a:t>Sales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76809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ptos Display"/>
              </a:defRPr>
            </a:pPr>
            <a:r>
              <a:t>From raw, inconsistent data</a:t>
            </a:r>
          </a:p>
          <a:p>
            <a:pPr>
              <a:defRPr sz="2500">
                <a:solidFill>
                  <a:srgbClr val="BFDBFE"/>
                </a:solidFill>
                <a:latin typeface="Aptos Display"/>
              </a:defRPr>
            </a:pPr>
            <a:r>
              <a:t>to a clean and analysis-ready dataset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160520"/>
            <a:ext cx="22402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325112"/>
            <a:ext cx="1965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EA5E9"/>
                </a:solidFill>
                <a:latin typeface="Aptos Display"/>
              </a:defRPr>
            </a:pPr>
            <a:r>
              <a:t>10,000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73752"/>
            <a:ext cx="1965960" cy="5029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Aptos"/>
              </a:defRPr>
            </a:pPr>
            <a:r>
              <a:t>Original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4160520"/>
            <a:ext cx="22402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91840" y="4325112"/>
            <a:ext cx="1965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0B981"/>
                </a:solidFill>
                <a:latin typeface="Aptos Display"/>
              </a:defRPr>
            </a:pPr>
            <a: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873752"/>
            <a:ext cx="1965960" cy="5029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Aptos"/>
              </a:defRPr>
            </a:pPr>
            <a:r>
              <a:t>Columns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160520"/>
            <a:ext cx="22402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60720" y="4325112"/>
            <a:ext cx="1965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59E0B"/>
                </a:solidFill>
                <a:latin typeface="Aptos Display"/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4873752"/>
            <a:ext cx="1965960" cy="5029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Aptos"/>
              </a:defRPr>
            </a:pPr>
            <a:r>
              <a:t>Duplicate rows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881360" y="651967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4"/>
                </a:solidFill>
                <a:latin typeface="Aptos Display"/>
              </a:defRPr>
            </a:pPr>
            <a:r>
              <a:t>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2795189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endParaRPr lang="en-US" dirty="0" smtClean="0"/>
          </a:p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r>
              <a:rPr dirty="0" smtClean="0"/>
              <a:t>What </a:t>
            </a:r>
            <a:r>
              <a:rPr dirty="0"/>
              <a:t>this mini project demonstrates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07040" cy="28212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  <a:latin typeface="Aptos"/>
              </a:defRPr>
            </a:pPr>
            <a:endParaRPr lang="en-US" dirty="0" smtClean="0"/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rPr dirty="0" smtClean="0"/>
              <a:t>• </a:t>
            </a:r>
            <a:r>
              <a:rPr dirty="0"/>
              <a:t>Data cleaning is the process of identifying and correcting incomplete, inconsistent or invalid data.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rPr dirty="0"/>
              <a:t>• The project uses a </a:t>
            </a:r>
            <a:r>
              <a:rPr dirty="0" smtClean="0"/>
              <a:t>Caf</a:t>
            </a:r>
            <a:r>
              <a:rPr lang="en-US" dirty="0" smtClean="0"/>
              <a:t>e</a:t>
            </a:r>
            <a:r>
              <a:rPr dirty="0" smtClean="0"/>
              <a:t> </a:t>
            </a:r>
            <a:r>
              <a:rPr dirty="0"/>
              <a:t>Sales dataset loaded and cleaned in a </a:t>
            </a:r>
            <a:r>
              <a:rPr dirty="0" err="1"/>
              <a:t>Jupyter</a:t>
            </a:r>
            <a:r>
              <a:rPr dirty="0"/>
              <a:t> Notebook using Python and pandas.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rPr dirty="0"/>
              <a:t>• The main focus is on missing values, duplicate records, invalid placeholders such as UNKNOWN / ERROR, and numeric inconsistencies.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rPr dirty="0"/>
              <a:t>• A key part of the cleaning is using relationships between Quantity, Price Per Unit and Total Spent to recover missing values.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81360" y="651967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ptos"/>
              </a:defRPr>
            </a:pPr>
            <a:r>
              <a:t>2</a:t>
            </a:r>
          </a:p>
        </p:txBody>
      </p:sp>
      <p:cxnSp>
        <p:nvCxnSpPr>
          <p:cNvPr id="10" name="Straight Connector 9"/>
          <p:cNvCxnSpPr/>
          <p:nvPr/>
        </p:nvCxnSpPr>
        <p:spPr>
          <a:xfrm>
            <a:off x="731520" y="950976"/>
            <a:ext cx="108356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4"/>
                </a:solidFill>
                <a:latin typeface="Aptos Display"/>
              </a:defRPr>
            </a:pPr>
            <a:r>
              <a:t>2. What is Data Cleaning?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3447803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endParaRPr lang="en-US" dirty="0" smtClean="0"/>
          </a:p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r>
              <a:rPr dirty="0" smtClean="0"/>
              <a:t>Turning </a:t>
            </a:r>
            <a:r>
              <a:rPr dirty="0"/>
              <a:t>raw data into reliable data for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00398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900398"/>
            <a:ext cx="73152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064990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t>Identify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67326"/>
            <a:ext cx="30175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E293B"/>
                </a:solidFill>
                <a:latin typeface="Aptos"/>
              </a:defRPr>
            </a:pPr>
            <a:r>
              <a:t>Find missing values, duplicates, invalid values and inconsistent data types.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00398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1900398"/>
            <a:ext cx="73152" cy="18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720" y="2064990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t>Correct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467326"/>
            <a:ext cx="30175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E293B"/>
                </a:solidFill>
                <a:latin typeface="Aptos"/>
              </a:defRPr>
            </a:pPr>
            <a:r>
              <a:t>Replace, convert, calculate or impute values using rules supported by the dataset.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900398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1900398"/>
            <a:ext cx="73152" cy="1828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2064990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t>Validate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467326"/>
            <a:ext cx="30175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E293B"/>
                </a:solidFill>
                <a:latin typeface="Aptos"/>
              </a:defRPr>
            </a:pPr>
            <a:r>
              <a:t>Check that the cleaned dataset has the expected structure and no unresolved issues.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840480"/>
            <a:ext cx="10241280" cy="1133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293B"/>
                </a:solidFill>
                <a:latin typeface="Aptos"/>
              </a:defRPr>
            </a:pPr>
            <a:endParaRPr lang="en-US" dirty="0" smtClean="0"/>
          </a:p>
          <a:p>
            <a:pPr>
              <a:spcAft>
                <a:spcPts val="10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rPr dirty="0" smtClean="0"/>
              <a:t>• </a:t>
            </a:r>
            <a:r>
              <a:rPr dirty="0"/>
              <a:t>In this notebook, cleaning is performed step by step rather than simply deleting rows.</a:t>
            </a:r>
          </a:p>
          <a:p>
            <a:pPr>
              <a:spcAft>
                <a:spcPts val="10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rPr dirty="0"/>
              <a:t>• The goal is to preserve useful transactions while improving data quality.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881360" y="651967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ptos"/>
              </a:defRPr>
            </a:pPr>
            <a:r>
              <a:t>3</a:t>
            </a:r>
          </a:p>
        </p:txBody>
      </p:sp>
      <p:cxnSp>
        <p:nvCxnSpPr>
          <p:cNvPr id="20" name="Straight Connector 19"/>
          <p:cNvCxnSpPr/>
          <p:nvPr/>
        </p:nvCxnSpPr>
        <p:spPr>
          <a:xfrm>
            <a:off x="731520" y="950976"/>
            <a:ext cx="108356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4"/>
                </a:solidFill>
                <a:latin typeface="Aptos Display"/>
              </a:defRPr>
            </a:pPr>
            <a:r>
              <a:t>3. Why is Data Cleaning Important?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4722318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endParaRPr lang="en-US" dirty="0" smtClean="0"/>
          </a:p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r>
              <a:rPr dirty="0" smtClean="0"/>
              <a:t>Clean </a:t>
            </a:r>
            <a:r>
              <a:rPr dirty="0"/>
              <a:t>data improves the reliability of everything built on top of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49569"/>
            <a:ext cx="516636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949569"/>
            <a:ext cx="73152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114161"/>
            <a:ext cx="4754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t>Accurate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6497"/>
            <a:ext cx="4754880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E293B"/>
                </a:solidFill>
                <a:latin typeface="Aptos"/>
              </a:defRPr>
            </a:pPr>
            <a:r>
              <a:t>Incorrect or missing values can distort totals, averages and patterns.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949569"/>
            <a:ext cx="516636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63640" y="1949569"/>
            <a:ext cx="73152" cy="1737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2114161"/>
            <a:ext cx="4754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t>Reliable decisions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516497"/>
            <a:ext cx="4754880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E293B"/>
                </a:solidFill>
                <a:latin typeface="Aptos"/>
              </a:defRPr>
            </a:pPr>
            <a:r>
              <a:t>Better-quality input supports more trustworthy conclusions.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98409"/>
            <a:ext cx="516636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31520" y="4098409"/>
            <a:ext cx="73152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4263001"/>
            <a:ext cx="4754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t>Consistent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665337"/>
            <a:ext cx="4754880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E293B"/>
                </a:solidFill>
                <a:latin typeface="Aptos"/>
              </a:defRPr>
            </a:pPr>
            <a:r>
              <a:t>Standardizing UNKNOWN / ERROR and data types makes columns usable.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098409"/>
            <a:ext cx="516636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63640" y="4098409"/>
            <a:ext cx="73152" cy="17373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4263001"/>
            <a:ext cx="4754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t>Reproducible workflow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665337"/>
            <a:ext cx="4754880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E293B"/>
                </a:solidFill>
                <a:latin typeface="Aptos"/>
              </a:defRPr>
            </a:pPr>
            <a:r>
              <a:t>Explicit cleaning rules can be documented and repeated.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881360" y="651967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ptos"/>
              </a:defRPr>
            </a:pPr>
            <a:r>
              <a:t>4</a:t>
            </a:r>
          </a:p>
        </p:txBody>
      </p:sp>
      <p:cxnSp>
        <p:nvCxnSpPr>
          <p:cNvPr id="23" name="Straight Connector 22"/>
          <p:cNvCxnSpPr/>
          <p:nvPr/>
        </p:nvCxnSpPr>
        <p:spPr>
          <a:xfrm>
            <a:off x="731520" y="950976"/>
            <a:ext cx="108356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4"/>
                </a:solidFill>
                <a:latin typeface="Aptos Display"/>
              </a:defRPr>
            </a:pPr>
            <a:r>
              <a:t>4. Dataset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330494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endParaRPr lang="en-US" dirty="0" smtClean="0"/>
          </a:p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r>
              <a:rPr dirty="0" smtClean="0"/>
              <a:t>Initial </a:t>
            </a:r>
            <a:r>
              <a:rPr dirty="0"/>
              <a:t>inspection from the </a:t>
            </a:r>
            <a:r>
              <a:rPr dirty="0" err="1"/>
              <a:t>Jupyter</a:t>
            </a:r>
            <a:r>
              <a:rPr dirty="0"/>
              <a:t> Notebook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432" y="2012547"/>
            <a:ext cx="22860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1592" y="2177139"/>
            <a:ext cx="2011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2563EB"/>
                </a:solidFill>
                <a:latin typeface="Aptos Display"/>
              </a:defRPr>
            </a:pPr>
            <a:r>
              <a:rPr dirty="0"/>
              <a:t>10,000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592" y="2725779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Aptos"/>
              </a:defRPr>
            </a:pPr>
            <a:r>
              <a:rPr dirty="0"/>
              <a:t>Rows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9032" y="2012547"/>
            <a:ext cx="22860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16191" y="2177139"/>
            <a:ext cx="2011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0B981"/>
                </a:solidFill>
                <a:latin typeface="Aptos Display"/>
              </a:defRPr>
            </a:pPr>
            <a: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6191" y="2725779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Aptos"/>
              </a:defRPr>
            </a:pPr>
            <a:r>
              <a:t>Columns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93632" y="2012547"/>
            <a:ext cx="22860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30792" y="2177139"/>
            <a:ext cx="2011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59E0B"/>
                </a:solidFill>
                <a:latin typeface="Aptos Display"/>
              </a:defRPr>
            </a:pPr>
            <a: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0792" y="2725779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Aptos"/>
              </a:defRPr>
            </a:pPr>
            <a:r>
              <a:t>Duplicate rows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063240"/>
            <a:ext cx="10424160" cy="2436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293B"/>
                </a:solidFill>
                <a:latin typeface="Aptos"/>
              </a:defRPr>
            </a:pPr>
            <a:endParaRPr lang="en-US" dirty="0" smtClean="0"/>
          </a:p>
          <a:p>
            <a:pPr>
              <a:spcAft>
                <a:spcPts val="1000"/>
              </a:spcAft>
              <a:defRPr sz="1700">
                <a:solidFill>
                  <a:srgbClr val="1E293B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10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rPr dirty="0" smtClean="0"/>
              <a:t>• </a:t>
            </a:r>
            <a:r>
              <a:rPr dirty="0"/>
              <a:t>Columns: Transaction ID, Item, Quantity, Price Per Unit, Total Spent, Payment Method, Location, Transaction Date.</a:t>
            </a:r>
          </a:p>
          <a:p>
            <a:pPr>
              <a:spcAft>
                <a:spcPts val="10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rPr dirty="0"/>
              <a:t>• Initial data profiling showed all 8 columns were read as string/object-like data in the notebook.</a:t>
            </a:r>
          </a:p>
          <a:p>
            <a:pPr>
              <a:spcAft>
                <a:spcPts val="10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rPr dirty="0"/>
              <a:t>• Missing values were present in Item, Quantity, Price Per Unit, Total Spent, Payment Method, Location and Transaction Date.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881360" y="651967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ptos"/>
              </a:defRPr>
            </a:pPr>
            <a:r>
              <a:t>5</a:t>
            </a:r>
          </a:p>
        </p:txBody>
      </p:sp>
      <p:cxnSp>
        <p:nvCxnSpPr>
          <p:cNvPr id="20" name="Straight Connector 19"/>
          <p:cNvCxnSpPr/>
          <p:nvPr/>
        </p:nvCxnSpPr>
        <p:spPr>
          <a:xfrm>
            <a:off x="731520" y="950976"/>
            <a:ext cx="108356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4"/>
                </a:solidFill>
                <a:latin typeface="Aptos Display"/>
              </a:defRPr>
            </a:pPr>
            <a:r>
              <a:t>5. Step-by-Step Cleaning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3558410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endParaRPr lang="en-US" dirty="0" smtClean="0"/>
          </a:p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r>
              <a:rPr dirty="0" smtClean="0"/>
              <a:t>The </a:t>
            </a:r>
            <a:r>
              <a:rPr dirty="0"/>
              <a:t>sequence followed in the </a:t>
            </a:r>
            <a:r>
              <a:rPr dirty="0" err="1"/>
              <a:t>Jupyter</a:t>
            </a:r>
            <a:r>
              <a:rPr dirty="0"/>
              <a:t> Notebook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60716"/>
            <a:ext cx="3429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4360" y="1860716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785" y="2215001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rPr dirty="0"/>
              <a:t>1  Load &amp; profile the 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27643"/>
            <a:ext cx="3017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E293B"/>
                </a:solidFill>
                <a:latin typeface="Aptos"/>
              </a:defRPr>
            </a:pPr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89120" y="1860716"/>
            <a:ext cx="3429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1860716"/>
            <a:ext cx="73152" cy="1143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36098" y="2132314"/>
            <a:ext cx="2735044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rPr dirty="0"/>
              <a:t>2  Check duplicates and </a:t>
            </a:r>
            <a:endParaRPr lang="en-US" dirty="0" smtClean="0"/>
          </a:p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rPr dirty="0" smtClean="0"/>
              <a:t>missing </a:t>
            </a:r>
            <a:r>
              <a:rPr dirty="0"/>
              <a:t>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427643"/>
            <a:ext cx="3017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E293B"/>
                </a:solidFill>
                <a:latin typeface="Aptos"/>
              </a:defRPr>
            </a:pPr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183880" y="1860716"/>
            <a:ext cx="3429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83880" y="1860716"/>
            <a:ext cx="73152" cy="1143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26196" y="2228248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rPr dirty="0"/>
              <a:t>3  Clean Item values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427643"/>
            <a:ext cx="3017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E293B"/>
                </a:solidFill>
                <a:latin typeface="Aptos"/>
              </a:defRPr>
            </a:pPr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94360" y="3369475"/>
            <a:ext cx="3429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4360" y="3369475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3732479"/>
            <a:ext cx="2029723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rPr dirty="0"/>
              <a:t>4  </a:t>
            </a:r>
            <a:r>
              <a:rPr lang="en-US" dirty="0" smtClean="0"/>
              <a:t>Clean</a:t>
            </a:r>
            <a:r>
              <a:rPr dirty="0" smtClean="0"/>
              <a:t> </a:t>
            </a:r>
            <a:r>
              <a:rPr dirty="0"/>
              <a:t>Quantity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936404"/>
            <a:ext cx="3017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E293B"/>
                </a:solidFill>
                <a:latin typeface="Aptos"/>
              </a:defRPr>
            </a:pPr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389120" y="3369475"/>
            <a:ext cx="3429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89120" y="3369475"/>
            <a:ext cx="73152" cy="1143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17720" y="3741098"/>
            <a:ext cx="2517036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rPr dirty="0"/>
              <a:t>5  </a:t>
            </a:r>
            <a:r>
              <a:rPr lang="en-US" dirty="0" smtClean="0"/>
              <a:t>Clean</a:t>
            </a:r>
            <a:r>
              <a:rPr dirty="0" smtClean="0"/>
              <a:t> </a:t>
            </a:r>
            <a:r>
              <a:rPr dirty="0"/>
              <a:t>Price Per Unit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936404"/>
            <a:ext cx="3017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E293B"/>
                </a:solidFill>
                <a:latin typeface="Aptos"/>
              </a:defRPr>
            </a:pPr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183880" y="3360855"/>
            <a:ext cx="3429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</a:t>
            </a:r>
            <a:endParaRPr dirty="0"/>
          </a:p>
        </p:txBody>
      </p:sp>
      <p:sp>
        <p:nvSpPr>
          <p:cNvPr id="26" name="Rectangle 25"/>
          <p:cNvSpPr/>
          <p:nvPr/>
        </p:nvSpPr>
        <p:spPr>
          <a:xfrm>
            <a:off x="8183880" y="3369475"/>
            <a:ext cx="73152" cy="1143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12480" y="3732480"/>
            <a:ext cx="2255617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rPr dirty="0"/>
              <a:t>6  </a:t>
            </a:r>
            <a:r>
              <a:rPr lang="en-US" dirty="0" smtClean="0"/>
              <a:t>Clean</a:t>
            </a:r>
            <a:r>
              <a:rPr dirty="0" smtClean="0"/>
              <a:t> </a:t>
            </a:r>
            <a:r>
              <a:rPr dirty="0"/>
              <a:t>Total Spent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936404"/>
            <a:ext cx="3017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E293B"/>
                </a:solidFill>
                <a:latin typeface="Aptos"/>
              </a:defRPr>
            </a:pPr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594360" y="4878236"/>
            <a:ext cx="3429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94360" y="4878236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5129088"/>
            <a:ext cx="2890535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rPr dirty="0"/>
              <a:t>7  Clean Payment Method </a:t>
            </a:r>
            <a:endParaRPr lang="en-US" dirty="0" smtClean="0"/>
          </a:p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rPr dirty="0" smtClean="0"/>
              <a:t>&amp; Location</a:t>
            </a:r>
            <a:endParaRPr dirty="0"/>
          </a:p>
        </p:txBody>
      </p:sp>
      <p:sp>
        <p:nvSpPr>
          <p:cNvPr id="32" name="TextBox 31"/>
          <p:cNvSpPr txBox="1"/>
          <p:nvPr/>
        </p:nvSpPr>
        <p:spPr>
          <a:xfrm>
            <a:off x="822960" y="5445164"/>
            <a:ext cx="3017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E293B"/>
                </a:solidFill>
                <a:latin typeface="Aptos"/>
              </a:defRPr>
            </a:pPr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4389120" y="4878236"/>
            <a:ext cx="3429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389120" y="4878236"/>
            <a:ext cx="73152" cy="1143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617720" y="5129088"/>
            <a:ext cx="3037178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rPr dirty="0"/>
              <a:t>8  Handle Transaction Date </a:t>
            </a:r>
            <a:endParaRPr lang="en-US" dirty="0" smtClean="0"/>
          </a:p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rPr dirty="0" smtClean="0"/>
              <a:t>placeholders</a:t>
            </a:r>
            <a:endParaRPr dirty="0"/>
          </a:p>
        </p:txBody>
      </p:sp>
      <p:sp>
        <p:nvSpPr>
          <p:cNvPr id="36" name="TextBox 35"/>
          <p:cNvSpPr txBox="1"/>
          <p:nvPr/>
        </p:nvSpPr>
        <p:spPr>
          <a:xfrm>
            <a:off x="4617720" y="5445164"/>
            <a:ext cx="3017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E293B"/>
                </a:solidFill>
                <a:latin typeface="Aptos"/>
              </a:defRPr>
            </a:pPr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8183880" y="4878236"/>
            <a:ext cx="3429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183880" y="4878236"/>
            <a:ext cx="73152" cy="1143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12480" y="5137717"/>
            <a:ext cx="2492157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rPr dirty="0"/>
              <a:t>9  Validate and export </a:t>
            </a:r>
            <a:endParaRPr lang="en-US" dirty="0" smtClean="0"/>
          </a:p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rPr dirty="0" smtClean="0"/>
              <a:t>cleaned </a:t>
            </a:r>
            <a:r>
              <a:rPr dirty="0"/>
              <a:t>CSV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881360" y="651967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ptos"/>
              </a:defRPr>
            </a:pPr>
            <a:r>
              <a:t>6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731520" y="950976"/>
            <a:ext cx="108356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4"/>
                </a:solidFill>
                <a:latin typeface="Aptos Display"/>
              </a:defRPr>
            </a:pPr>
            <a:r>
              <a:t>6. Step 1 — Import, Load &amp;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5371663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endParaRPr lang="en-US" dirty="0" smtClean="0"/>
          </a:p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r>
              <a:rPr dirty="0" smtClean="0"/>
              <a:t>The </a:t>
            </a:r>
            <a:r>
              <a:rPr dirty="0"/>
              <a:t>notebook first creates the working </a:t>
            </a:r>
            <a:r>
              <a:rPr dirty="0" err="1"/>
              <a:t>dataframe</a:t>
            </a:r>
            <a:r>
              <a:rPr dirty="0"/>
              <a:t> and inspects its quality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799" y="2036694"/>
            <a:ext cx="11089257" cy="2707832"/>
          </a:xfrm>
          <a:prstGeom prst="roundRect">
            <a:avLst/>
          </a:prstGeom>
          <a:solidFill>
            <a:srgbClr val="1F2937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6093" y="2215002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onsolas"/>
              </a:defRPr>
            </a:pPr>
            <a:r>
              <a:rPr dirty="0"/>
              <a:t>In [ ]:</a:t>
            </a:r>
          </a:p>
        </p:txBody>
      </p:sp>
      <p:sp>
        <p:nvSpPr>
          <p:cNvPr id="7" name="Rectangle 6"/>
          <p:cNvSpPr/>
          <p:nvPr/>
        </p:nvSpPr>
        <p:spPr>
          <a:xfrm>
            <a:off x="1344168" y="2239929"/>
            <a:ext cx="1005840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99032" y="2292726"/>
            <a:ext cx="1001268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import pandas as pd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2603622"/>
            <a:ext cx="1001268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import numpy as np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44168" y="2861721"/>
            <a:ext cx="1005840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99032" y="2914518"/>
            <a:ext cx="1001268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print("import Done")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2423160"/>
            <a:ext cx="1001268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344168" y="3483513"/>
            <a:ext cx="1005840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99032" y="3536310"/>
            <a:ext cx="1001268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cs = pd.read_csv("dirty_cafe_sales.csv")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3847206"/>
            <a:ext cx="1001268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print("Read Done")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44168" y="4129291"/>
            <a:ext cx="1005840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1399032" y="4123593"/>
            <a:ext cx="1001268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89888" y="4158223"/>
            <a:ext cx="1001268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rPr dirty="0"/>
              <a:t>cs.info()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489" y="5308302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1E293B"/>
                </a:solidFill>
                <a:latin typeface="Aptos"/>
              </a:defRPr>
            </a:pPr>
            <a:r>
              <a:rPr dirty="0"/>
              <a:t>• Purpose: understand the dataset before making any changes.</a:t>
            </a:r>
          </a:p>
          <a:p>
            <a:pPr>
              <a:spcAft>
                <a:spcPts val="1000"/>
              </a:spcAft>
              <a:defRPr sz="1250">
                <a:solidFill>
                  <a:srgbClr val="1E293B"/>
                </a:solidFill>
                <a:latin typeface="Aptos"/>
              </a:defRPr>
            </a:pPr>
            <a:r>
              <a:rPr dirty="0"/>
              <a:t>• Initial missing-value counts are identified with </a:t>
            </a:r>
            <a:r>
              <a:rPr dirty="0" err="1"/>
              <a:t>isnull</a:t>
            </a:r>
            <a:r>
              <a:rPr dirty="0"/>
              <a:t>().sum().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881360" y="651967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ptos"/>
              </a:defRPr>
            </a:pPr>
            <a:r>
              <a:t>7</a:t>
            </a:r>
          </a:p>
        </p:txBody>
      </p:sp>
      <p:cxnSp>
        <p:nvCxnSpPr>
          <p:cNvPr id="22" name="Straight Connector 21"/>
          <p:cNvCxnSpPr/>
          <p:nvPr/>
        </p:nvCxnSpPr>
        <p:spPr>
          <a:xfrm>
            <a:off x="731520" y="950976"/>
            <a:ext cx="108356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4"/>
                </a:solidFill>
                <a:latin typeface="Aptos Display"/>
              </a:defRPr>
            </a:pPr>
            <a:r>
              <a:t>7. Step 2 — Check Duplicates &amp; Missing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2956835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endParaRPr lang="en-US" dirty="0" smtClean="0"/>
          </a:p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r>
              <a:rPr dirty="0" smtClean="0"/>
              <a:t>Before </a:t>
            </a:r>
            <a:r>
              <a:rPr dirty="0"/>
              <a:t>cleaning, quantify the problems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20436"/>
            <a:ext cx="10881360" cy="1540678"/>
          </a:xfrm>
          <a:prstGeom prst="roundRect">
            <a:avLst/>
          </a:prstGeom>
          <a:solidFill>
            <a:srgbClr val="1F2937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" y="2375883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onsolas"/>
              </a:defRPr>
            </a:pPr>
            <a:r>
              <a:t>In [ ]:</a:t>
            </a:r>
          </a:p>
        </p:txBody>
      </p:sp>
      <p:sp>
        <p:nvSpPr>
          <p:cNvPr id="7" name="Rectangle 6"/>
          <p:cNvSpPr/>
          <p:nvPr/>
        </p:nvSpPr>
        <p:spPr>
          <a:xfrm>
            <a:off x="1344168" y="2423670"/>
            <a:ext cx="1005840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99032" y="2476468"/>
            <a:ext cx="1001268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cs.duplicated().sum()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1847088"/>
            <a:ext cx="1001268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344168" y="3045462"/>
            <a:ext cx="1005840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99032" y="3098260"/>
            <a:ext cx="1001268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clean_cs.isnull().sum()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572000"/>
            <a:ext cx="30175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4736592"/>
            <a:ext cx="2743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0B981"/>
                </a:solidFill>
                <a:latin typeface="Aptos Display"/>
              </a:defRPr>
            </a:pPr>
            <a: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285232"/>
            <a:ext cx="2743200" cy="2743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Aptos"/>
              </a:defRPr>
            </a:pPr>
            <a:r>
              <a:t>Duplicate rows found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4572000"/>
            <a:ext cx="30175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97680" y="4736592"/>
            <a:ext cx="2743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59E0B"/>
                </a:solidFill>
                <a:latin typeface="Aptos Display"/>
              </a:defRPr>
            </a:pPr>
            <a:r>
              <a:t>3,265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5285232"/>
            <a:ext cx="2743200" cy="2743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Aptos"/>
              </a:defRPr>
            </a:pPr>
            <a:r>
              <a:t>Missing Location values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4572000"/>
            <a:ext cx="30175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4736592"/>
            <a:ext cx="2743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EF4444"/>
                </a:solidFill>
                <a:latin typeface="Aptos Display"/>
              </a:defRPr>
            </a:pPr>
            <a:r>
              <a:t>2,579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285232"/>
            <a:ext cx="2743200" cy="2743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Aptos"/>
              </a:defRPr>
            </a:pPr>
            <a:r>
              <a:t>Missing Payment Method values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881360" y="651967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ptos"/>
              </a:defRPr>
            </a:pPr>
            <a:r>
              <a:t>8</a:t>
            </a:r>
          </a:p>
        </p:txBody>
      </p:sp>
      <p:cxnSp>
        <p:nvCxnSpPr>
          <p:cNvPr id="23" name="Straight Connector 22"/>
          <p:cNvCxnSpPr/>
          <p:nvPr/>
        </p:nvCxnSpPr>
        <p:spPr>
          <a:xfrm>
            <a:off x="731520" y="950976"/>
            <a:ext cx="108356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4"/>
                </a:solidFill>
                <a:latin typeface="Aptos Display"/>
              </a:defRPr>
            </a:pPr>
            <a:r>
              <a:t>8. Step 3 — Clean the Item Column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3984937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endParaRPr lang="en-US" dirty="0" smtClean="0"/>
          </a:p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r>
              <a:rPr dirty="0" smtClean="0"/>
              <a:t>Convert </a:t>
            </a:r>
            <a:r>
              <a:rPr dirty="0"/>
              <a:t>invalid placeholders to a consistent category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67752"/>
            <a:ext cx="10881360" cy="1167154"/>
          </a:xfrm>
          <a:prstGeom prst="roundRect">
            <a:avLst/>
          </a:prstGeom>
          <a:solidFill>
            <a:srgbClr val="1F2937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" y="22232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onsolas"/>
              </a:defRPr>
            </a:pPr>
            <a:r>
              <a:t>In [ ]:</a:t>
            </a:r>
          </a:p>
        </p:txBody>
      </p:sp>
      <p:sp>
        <p:nvSpPr>
          <p:cNvPr id="7" name="Rectangle 6"/>
          <p:cNvSpPr/>
          <p:nvPr/>
        </p:nvSpPr>
        <p:spPr>
          <a:xfrm>
            <a:off x="1344168" y="2305493"/>
            <a:ext cx="1005840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99032" y="2323784"/>
            <a:ext cx="1001268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clean_cs["Item"] = clean_cs["Item"].replace(["UNKNOWN", "ERROR"], np.nan)</a:t>
            </a:r>
          </a:p>
        </p:txBody>
      </p:sp>
      <p:sp>
        <p:nvSpPr>
          <p:cNvPr id="9" name="Rectangle 8"/>
          <p:cNvSpPr/>
          <p:nvPr/>
        </p:nvSpPr>
        <p:spPr>
          <a:xfrm>
            <a:off x="1344168" y="2616388"/>
            <a:ext cx="1005840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99032" y="2634679"/>
            <a:ext cx="1001268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clean_cs["Item"] = clean_cs["Item"].fillna("Unknown")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86200"/>
            <a:ext cx="10241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UNKNOWN and ERROR are treated as invalid placeholders and converted to missing values.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Missing Item values are then filled with the explicit category “Unknown”.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This keeps the row while making the category consistent.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881360" y="651967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ptos"/>
              </a:defRPr>
            </a:pPr>
            <a:r>
              <a:t>9</a:t>
            </a:r>
          </a:p>
        </p:txBody>
      </p:sp>
      <p:cxnSp>
        <p:nvCxnSpPr>
          <p:cNvPr id="14" name="Straight Connector 13"/>
          <p:cNvCxnSpPr/>
          <p:nvPr/>
        </p:nvCxnSpPr>
        <p:spPr>
          <a:xfrm>
            <a:off x="731520" y="950976"/>
            <a:ext cx="108356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4"/>
                </a:solidFill>
                <a:latin typeface="Aptos Display"/>
              </a:defRPr>
            </a:pPr>
            <a:r>
              <a:t>9. Step 4 — Repair Quantity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r>
              <a:t>Use the relationship: Total Spent ÷ Price Per Unit = Quantity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35024"/>
            <a:ext cx="10972800" cy="3877055"/>
          </a:xfrm>
          <a:prstGeom prst="roundRect">
            <a:avLst/>
          </a:prstGeom>
          <a:solidFill>
            <a:srgbClr val="1F2937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1588292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onsolas"/>
              </a:defRPr>
            </a:pPr>
            <a:r>
              <a:t>In [ ]: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688876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quantity_mask = (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1999772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    clean_cs["Quantity"].isnull() &amp;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310668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    clean_cs["Price Per Unit"].notnull() &amp;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621564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    clean_cs["Total Spent"].notnull()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932460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044952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298448" y="3553216"/>
            <a:ext cx="1014984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53312" y="3554252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rPr dirty="0" err="1"/>
              <a:t>clean_cs</a:t>
            </a:r>
            <a:r>
              <a:rPr dirty="0"/>
              <a:t>["Total Spent"] = </a:t>
            </a:r>
            <a:r>
              <a:rPr dirty="0" err="1"/>
              <a:t>pd.to_numeric</a:t>
            </a:r>
            <a:r>
              <a:rPr dirty="0"/>
              <a:t>(</a:t>
            </a:r>
            <a:r>
              <a:rPr dirty="0" err="1"/>
              <a:t>clean_cs</a:t>
            </a:r>
            <a:r>
              <a:rPr dirty="0"/>
              <a:t>["Total Spent"], errors="coerce")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98448" y="3864112"/>
            <a:ext cx="1014984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98448" y="3010204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298448" y="4175008"/>
            <a:ext cx="1014984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53312" y="4176044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rPr dirty="0" err="1"/>
              <a:t>clean_cs.loc</a:t>
            </a:r>
            <a:r>
              <a:rPr dirty="0"/>
              <a:t>[</a:t>
            </a:r>
            <a:r>
              <a:rPr dirty="0" err="1"/>
              <a:t>quantity_mask</a:t>
            </a:r>
            <a:r>
              <a:rPr dirty="0"/>
              <a:t>, "Quantity"] = (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98448" y="4485904"/>
            <a:ext cx="1014984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53312" y="4486940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rPr dirty="0"/>
              <a:t>    </a:t>
            </a:r>
            <a:r>
              <a:rPr dirty="0" err="1"/>
              <a:t>clean_cs.loc</a:t>
            </a:r>
            <a:r>
              <a:rPr dirty="0"/>
              <a:t>[</a:t>
            </a:r>
            <a:r>
              <a:rPr dirty="0" err="1"/>
              <a:t>quantity_mask</a:t>
            </a:r>
            <a:r>
              <a:rPr dirty="0"/>
              <a:t>, "Total Spent"] / </a:t>
            </a:r>
            <a:r>
              <a:rPr dirty="0" err="1"/>
              <a:t>clean_cs.loc</a:t>
            </a:r>
            <a:r>
              <a:rPr dirty="0"/>
              <a:t>[</a:t>
            </a:r>
            <a:r>
              <a:rPr dirty="0" err="1"/>
              <a:t>quantity_mask</a:t>
            </a:r>
            <a:r>
              <a:rPr dirty="0"/>
              <a:t>, "Price Per Unit"]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3312" y="4797836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34924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1E293B"/>
                </a:solidFill>
                <a:latin typeface="Aptos"/>
              </a:defRPr>
            </a:pPr>
            <a:r>
              <a:t>• A mask selects rows where Quantity is missing but Price Per Unit and Total Spent are available.</a:t>
            </a:r>
          </a:p>
          <a:p>
            <a:pPr>
              <a:spcAft>
                <a:spcPts val="1000"/>
              </a:spcAft>
              <a:defRPr sz="1250">
                <a:solidFill>
                  <a:srgbClr val="1E293B"/>
                </a:solidFill>
                <a:latin typeface="Aptos"/>
              </a:defRPr>
            </a:pPr>
            <a:r>
              <a:t>• Total Spent is converted to numeric before calculation.</a:t>
            </a:r>
          </a:p>
          <a:p>
            <a:pPr>
              <a:spcAft>
                <a:spcPts val="1000"/>
              </a:spcAft>
              <a:defRPr sz="1250">
                <a:solidFill>
                  <a:srgbClr val="1E293B"/>
                </a:solidFill>
                <a:latin typeface="Aptos"/>
              </a:defRPr>
            </a:pPr>
            <a:r>
              <a:t>• The calculated quantity is written back only for the affected rows.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881360" y="651967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ptos"/>
              </a:defRPr>
            </a:pPr>
            <a:r>
              <a:t>10</a:t>
            </a:r>
          </a:p>
        </p:txBody>
      </p:sp>
      <p:cxnSp>
        <p:nvCxnSpPr>
          <p:cNvPr id="25" name="Straight Connector 24"/>
          <p:cNvCxnSpPr/>
          <p:nvPr/>
        </p:nvCxnSpPr>
        <p:spPr>
          <a:xfrm>
            <a:off x="731520" y="950976"/>
            <a:ext cx="108356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4"/>
                </a:solidFill>
                <a:latin typeface="Aptos Display"/>
              </a:defRPr>
            </a:pPr>
            <a:r>
              <a:t>10. Step 4 — Finish Quantity Cleaning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r>
              <a:t>Use item-level median only where the value is still missing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10881360" cy="2057400"/>
          </a:xfrm>
          <a:prstGeom prst="roundRect">
            <a:avLst/>
          </a:prstGeom>
          <a:solidFill>
            <a:srgbClr val="1F2937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" y="152704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onsolas"/>
              </a:defRPr>
            </a:pPr>
            <a:r>
              <a:t>In [ ]: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1627632"/>
            <a:ext cx="1001268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#this gives the median quantity for each item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1938528"/>
            <a:ext cx="1001268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clean_cs["Quantity"] = clean_cs["Quantity"].fillna(</a:t>
            </a:r>
          </a:p>
        </p:txBody>
      </p:sp>
      <p:sp>
        <p:nvSpPr>
          <p:cNvPr id="9" name="Rectangle 8"/>
          <p:cNvSpPr/>
          <p:nvPr/>
        </p:nvSpPr>
        <p:spPr>
          <a:xfrm>
            <a:off x="1344168" y="2231136"/>
            <a:ext cx="1005840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99032" y="2249424"/>
            <a:ext cx="1001268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    clean_cs.groupby("Item")["Quantity"].transform("median")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44168" y="2542032"/>
            <a:ext cx="1005840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99032" y="2560320"/>
            <a:ext cx="1001268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886200"/>
            <a:ext cx="29260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4050791"/>
            <a:ext cx="26517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59E0B"/>
                </a:solidFill>
                <a:latin typeface="Aptos Display"/>
              </a:defRPr>
            </a:pPr>
            <a:r>
              <a:t>138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599432"/>
            <a:ext cx="2651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Aptos"/>
              </a:defRPr>
            </a:pPr>
            <a:r>
              <a:t>Missing Quantity initially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3886200"/>
            <a:ext cx="29260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43400" y="4050791"/>
            <a:ext cx="26517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EF4444"/>
                </a:solidFill>
                <a:latin typeface="Aptos Display"/>
              </a:defRPr>
            </a:pPr>
            <a:r>
              <a:t>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599432"/>
            <a:ext cx="2651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Aptos"/>
              </a:defRPr>
            </a:pPr>
            <a:r>
              <a:t>Still missing after formula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886200"/>
            <a:ext cx="29260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35240" y="4050791"/>
            <a:ext cx="26517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0B981"/>
                </a:solidFill>
                <a:latin typeface="Aptos Display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4599432"/>
            <a:ext cx="2651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Aptos"/>
              </a:defRPr>
            </a:pPr>
            <a:r>
              <a:t>Missing after median fill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39496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  <a:latin typeface="Aptos"/>
              </a:defRPr>
            </a:pPr>
            <a:r>
              <a:t>• The notebook uses the median Quantity for each Item as a fallback for remaining missing values.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881360" y="651967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ptos"/>
              </a:defRPr>
            </a:pPr>
            <a:r>
              <a:t>11</a:t>
            </a:r>
          </a:p>
        </p:txBody>
      </p:sp>
      <p:cxnSp>
        <p:nvCxnSpPr>
          <p:cNvPr id="25" name="Straight Connector 24"/>
          <p:cNvCxnSpPr/>
          <p:nvPr/>
        </p:nvCxnSpPr>
        <p:spPr>
          <a:xfrm>
            <a:off x="731520" y="950976"/>
            <a:ext cx="108356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4"/>
                </a:solidFill>
                <a:latin typeface="Aptos Display"/>
              </a:defRPr>
            </a:pPr>
            <a:r>
              <a:t>11. Step 5 — Repair Price Per Unit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r>
              <a:t>Use Total Spent ÷ Quantity when unit price is missing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72800" cy="4114800"/>
          </a:xfrm>
          <a:prstGeom prst="roundRect">
            <a:avLst/>
          </a:prstGeom>
          <a:solidFill>
            <a:srgbClr val="1F2937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2575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onsolas"/>
              </a:defRPr>
            </a:pPr>
            <a:r>
              <a:rPr dirty="0"/>
              <a:t>In [ ]: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490472"/>
            <a:ext cx="10104120" cy="3411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019">
                <a:solidFill>
                  <a:srgbClr val="E2E8F0"/>
                </a:solidFill>
                <a:latin typeface="Consolas"/>
              </a:defRPr>
            </a:pPr>
            <a:r>
              <a:t>price_mask = (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1785893"/>
            <a:ext cx="10104120" cy="3411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019">
                <a:solidFill>
                  <a:srgbClr val="E2E8F0"/>
                </a:solidFill>
                <a:latin typeface="Consolas"/>
              </a:defRPr>
            </a:pPr>
            <a:r>
              <a:t>    clean_cs["Price Per Unit"].isnull() &amp;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081315"/>
            <a:ext cx="10104120" cy="3411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019">
                <a:solidFill>
                  <a:srgbClr val="E2E8F0"/>
                </a:solidFill>
                <a:latin typeface="Consolas"/>
              </a:defRPr>
            </a:pPr>
            <a:r>
              <a:t>    clean_cs["Quantity"].notnull() &amp;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376736"/>
            <a:ext cx="10104120" cy="3411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019">
                <a:solidFill>
                  <a:srgbClr val="E2E8F0"/>
                </a:solidFill>
                <a:latin typeface="Consolas"/>
              </a:defRPr>
            </a:pPr>
            <a:r>
              <a:t>    clean_cs["Total Spent"].notnull()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672158"/>
            <a:ext cx="10104120" cy="3411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019">
                <a:solidFill>
                  <a:srgbClr val="E2E8F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967579"/>
            <a:ext cx="10104120" cy="3411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019">
                <a:solidFill>
                  <a:srgbClr val="E2E8F0"/>
                </a:solidFill>
                <a:latin typeface="Consolas"/>
              </a:defRPr>
            </a:pPr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298448" y="3244713"/>
            <a:ext cx="10149840" cy="313709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53312" y="3263001"/>
            <a:ext cx="10104120" cy="3411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019">
                <a:solidFill>
                  <a:srgbClr val="E2E8F0"/>
                </a:solidFill>
                <a:latin typeface="Consolas"/>
              </a:defRPr>
            </a:pPr>
            <a:r>
              <a:t>clean_cs.loc[price_mask, "Price Per Unit"] = (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98448" y="3540134"/>
            <a:ext cx="10149840" cy="313709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53312" y="3558422"/>
            <a:ext cx="10104120" cy="3411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019">
                <a:solidFill>
                  <a:srgbClr val="E2E8F0"/>
                </a:solidFill>
                <a:latin typeface="Consolas"/>
              </a:defRPr>
            </a:pPr>
            <a:r>
              <a:t>    clean_cs.loc[price_mask, "Total Spent"] / clean_cs.loc[price_mask, "Quantity"]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98448" y="3835556"/>
            <a:ext cx="10149840" cy="313709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53312" y="3853844"/>
            <a:ext cx="10104120" cy="3411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019">
                <a:solidFill>
                  <a:srgbClr val="E2E8F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4149265"/>
            <a:ext cx="10104120" cy="3411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019">
                <a:solidFill>
                  <a:srgbClr val="E2E8F0"/>
                </a:solidFill>
                <a:latin typeface="Consolas"/>
              </a:defRPr>
            </a:pPr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298448" y="4419898"/>
            <a:ext cx="10149840" cy="313709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298448" y="4715320"/>
            <a:ext cx="10149840" cy="313709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dirty="0"/>
          </a:p>
        </p:txBody>
      </p:sp>
      <p:sp>
        <p:nvSpPr>
          <p:cNvPr id="26" name="TextBox 25"/>
          <p:cNvSpPr txBox="1"/>
          <p:nvPr/>
        </p:nvSpPr>
        <p:spPr>
          <a:xfrm>
            <a:off x="822960" y="557784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80">
                <a:solidFill>
                  <a:srgbClr val="1E293B"/>
                </a:solidFill>
                <a:latin typeface="Aptos"/>
              </a:defRPr>
            </a:pPr>
            <a:r>
              <a:t>• First calculate the price from the transaction total and quantity.</a:t>
            </a:r>
          </a:p>
          <a:p>
            <a:pPr>
              <a:spcAft>
                <a:spcPts val="1000"/>
              </a:spcAft>
              <a:defRPr sz="1180">
                <a:solidFill>
                  <a:srgbClr val="1E293B"/>
                </a:solidFill>
                <a:latin typeface="Aptos"/>
              </a:defRPr>
            </a:pPr>
            <a:r>
              <a:t>• Any remaining missing prices are filled using the median Price Per Unit for the corresponding Item.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881360" y="651967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ptos"/>
              </a:defRPr>
            </a:pPr>
            <a:r>
              <a:t>12</a:t>
            </a:r>
          </a:p>
        </p:txBody>
      </p:sp>
      <p:cxnSp>
        <p:nvCxnSpPr>
          <p:cNvPr id="29" name="Straight Connector 28"/>
          <p:cNvCxnSpPr/>
          <p:nvPr/>
        </p:nvCxnSpPr>
        <p:spPr>
          <a:xfrm>
            <a:off x="731520" y="950976"/>
            <a:ext cx="108356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353312" y="4444687"/>
            <a:ext cx="10104120" cy="3411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019">
                <a:solidFill>
                  <a:srgbClr val="E2E8F0"/>
                </a:solidFill>
                <a:latin typeface="Consolas"/>
              </a:defRPr>
            </a:pPr>
            <a:r>
              <a:rPr dirty="0" err="1"/>
              <a:t>clean_cs</a:t>
            </a:r>
            <a:r>
              <a:rPr dirty="0"/>
              <a:t>["Price Per Unit"] = </a:t>
            </a:r>
            <a:r>
              <a:rPr dirty="0" err="1"/>
              <a:t>clean_cs</a:t>
            </a:r>
            <a:r>
              <a:rPr dirty="0"/>
              <a:t>["Price Per Unit"].</a:t>
            </a:r>
            <a:r>
              <a:rPr dirty="0" err="1"/>
              <a:t>fillna</a:t>
            </a:r>
            <a:r>
              <a:rPr dirty="0"/>
              <a:t>(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4740108"/>
            <a:ext cx="10104120" cy="3411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019">
                <a:solidFill>
                  <a:srgbClr val="E2E8F0"/>
                </a:solidFill>
                <a:latin typeface="Consolas"/>
              </a:defRPr>
            </a:pPr>
            <a:r>
              <a:rPr dirty="0"/>
              <a:t>    </a:t>
            </a:r>
            <a:r>
              <a:rPr dirty="0" err="1"/>
              <a:t>clean_cs.groupby</a:t>
            </a:r>
            <a:r>
              <a:rPr dirty="0"/>
              <a:t>("Item")["Price Per Unit"].transform("median")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98448" y="5023688"/>
            <a:ext cx="10149840" cy="313709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dirty="0"/>
          </a:p>
        </p:txBody>
      </p:sp>
      <p:sp>
        <p:nvSpPr>
          <p:cNvPr id="25" name="TextBox 24"/>
          <p:cNvSpPr txBox="1"/>
          <p:nvPr/>
        </p:nvSpPr>
        <p:spPr>
          <a:xfrm>
            <a:off x="1353312" y="5035530"/>
            <a:ext cx="10104120" cy="3411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019">
                <a:solidFill>
                  <a:srgbClr val="E2E8F0"/>
                </a:solidFill>
                <a:latin typeface="Consolas"/>
              </a:defRPr>
            </a:pPr>
            <a:r>
              <a:t>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4"/>
                </a:solidFill>
                <a:latin typeface="Aptos Display"/>
              </a:defRPr>
            </a:pPr>
            <a:r>
              <a:t>12. Step 6 — Repair Total Spent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r>
              <a:t>Use Quantity × Price Per Unit when the transaction total is missing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10972800" cy="2971800"/>
          </a:xfrm>
          <a:prstGeom prst="roundRect">
            <a:avLst/>
          </a:prstGeom>
          <a:solidFill>
            <a:srgbClr val="1F2937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148132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onsolas"/>
              </a:defRPr>
            </a:pPr>
            <a:r>
              <a:t>In [ ]: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581912"/>
            <a:ext cx="10104120" cy="33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total_mask = (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1866392"/>
            <a:ext cx="10104120" cy="33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    clean_cs["Total Spent"].isnull() &amp;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150872"/>
            <a:ext cx="10104120" cy="33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    clean_cs["Quantity"].notnull() &amp;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435352"/>
            <a:ext cx="10104120" cy="33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    clean_cs["Price Per Unit"].notnull()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719832"/>
            <a:ext cx="10104120" cy="33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" y="3270504"/>
            <a:ext cx="10149840" cy="30276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53312" y="3288792"/>
            <a:ext cx="10104120" cy="33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clean_cs.loc[total_mask, "Total Spent"] = (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98448" y="3554984"/>
            <a:ext cx="10149840" cy="30276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53312" y="3573272"/>
            <a:ext cx="10104120" cy="33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    clean_cs.loc[total_mask, "Quantity"] * clean_cs.loc[total_mask, "Price Per Unit"]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98448" y="3839464"/>
            <a:ext cx="10149840" cy="30276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53312" y="3857752"/>
            <a:ext cx="10104120" cy="33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572000"/>
            <a:ext cx="10332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A mask selects rows where Total Spent is missing but Quantity and Price Per Unit are available.</a:t>
            </a:r>
          </a:p>
          <a:p>
            <a:pPr>
              <a:spcAft>
                <a:spcPts val="10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The missing total is reconstructed from the two available transaction components.</a:t>
            </a:r>
          </a:p>
          <a:p>
            <a:pPr>
              <a:spcAft>
                <a:spcPts val="10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After the cleaning workflow, the notebook’s final descriptive output shows 10,000 populated values for Quantity, Price Per Unit and Total Spent.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881360" y="651967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ptos"/>
              </a:defRPr>
            </a:pPr>
            <a:r>
              <a:t>13</a:t>
            </a:r>
          </a:p>
        </p:txBody>
      </p:sp>
      <p:cxnSp>
        <p:nvCxnSpPr>
          <p:cNvPr id="23" name="Straight Connector 22"/>
          <p:cNvCxnSpPr/>
          <p:nvPr/>
        </p:nvCxnSpPr>
        <p:spPr>
          <a:xfrm>
            <a:off x="731520" y="950976"/>
            <a:ext cx="108356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35168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4"/>
                </a:solidFill>
                <a:latin typeface="Aptos Display"/>
              </a:defRPr>
            </a:pPr>
            <a:r>
              <a:t>13. Step 7 — Clean Payment Method &amp; 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4462825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endParaRPr lang="en-US" dirty="0" smtClean="0"/>
          </a:p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r>
              <a:rPr dirty="0" smtClean="0"/>
              <a:t>Standardize </a:t>
            </a:r>
            <a:r>
              <a:rPr dirty="0"/>
              <a:t>placeholders and fill missing categorical values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69608"/>
            <a:ext cx="10972800" cy="2164368"/>
          </a:xfrm>
          <a:prstGeom prst="roundRect">
            <a:avLst/>
          </a:prstGeom>
          <a:solidFill>
            <a:srgbClr val="1F2937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8215" y="2484492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onsolas"/>
              </a:defRPr>
            </a:pPr>
            <a:r>
              <a:rPr dirty="0"/>
              <a:t>In [ ]:</a:t>
            </a:r>
          </a:p>
        </p:txBody>
      </p:sp>
      <p:sp>
        <p:nvSpPr>
          <p:cNvPr id="7" name="Rectangle 6"/>
          <p:cNvSpPr/>
          <p:nvPr/>
        </p:nvSpPr>
        <p:spPr>
          <a:xfrm>
            <a:off x="1298448" y="2490098"/>
            <a:ext cx="1014984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53312" y="2525640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clean_cs["Payment Method"] = clean_cs["Payment Method"].replace(["UNKNOWN", "ERROR"], np.nan)</a:t>
            </a:r>
          </a:p>
        </p:txBody>
      </p:sp>
      <p:sp>
        <p:nvSpPr>
          <p:cNvPr id="9" name="Rectangle 8"/>
          <p:cNvSpPr/>
          <p:nvPr/>
        </p:nvSpPr>
        <p:spPr>
          <a:xfrm>
            <a:off x="1298448" y="2800994"/>
            <a:ext cx="1014984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53312" y="2836536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clean_cs["Payment Method"] = clean_cs["Payment Method"].fillna("Unknown")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112264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298448" y="3422786"/>
            <a:ext cx="1014984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53312" y="3458328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clean_cs["Location"] = clean_cs["Location"].replace({"UNKNOWN":"Takeaway", "ERROR": "In-store"})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" y="3733682"/>
            <a:ext cx="1014984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53312" y="3769224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clean_cs["Location"] = clean_cs["Location"].fillna(clean_cs["Location"].mode()[0])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312" y="5145657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80">
                <a:solidFill>
                  <a:srgbClr val="1E293B"/>
                </a:solidFill>
                <a:latin typeface="Aptos"/>
              </a:defRPr>
            </a:pPr>
            <a:r>
              <a:rPr dirty="0"/>
              <a:t>• Payment Method: UNKNOWN / ERROR → missing → “Unknown”.</a:t>
            </a:r>
          </a:p>
          <a:p>
            <a:pPr>
              <a:spcAft>
                <a:spcPts val="1000"/>
              </a:spcAft>
              <a:defRPr sz="1180">
                <a:solidFill>
                  <a:srgbClr val="1E293B"/>
                </a:solidFill>
                <a:latin typeface="Aptos"/>
              </a:defRPr>
            </a:pPr>
            <a:r>
              <a:rPr dirty="0"/>
              <a:t>• Location: UNKNOWN → Takeaway, ERROR → In-store; remaining missing values are filled with the mode.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881360" y="651967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ptos"/>
              </a:defRPr>
            </a:pPr>
            <a:r>
              <a:t>14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731520" y="950976"/>
            <a:ext cx="108356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4"/>
                </a:solidFill>
                <a:latin typeface="Aptos Display"/>
              </a:defRPr>
            </a:pPr>
            <a:r>
              <a:t>14. Step 8 — Transaction Date &amp; Final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5237075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endParaRPr lang="en-US" dirty="0" smtClean="0"/>
          </a:p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r>
              <a:rPr dirty="0" smtClean="0"/>
              <a:t>Remove </a:t>
            </a:r>
            <a:r>
              <a:rPr dirty="0"/>
              <a:t>invalid date placeholders, then inspect the cleaned </a:t>
            </a:r>
            <a:r>
              <a:rPr dirty="0" err="1"/>
              <a:t>dataframe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640080" y="2301527"/>
            <a:ext cx="10972800" cy="1959922"/>
          </a:xfrm>
          <a:prstGeom prst="roundRect">
            <a:avLst/>
          </a:prstGeom>
          <a:solidFill>
            <a:srgbClr val="1F2937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6656" y="2456975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onsolas"/>
              </a:defRPr>
            </a:pPr>
            <a:r>
              <a:rPr dirty="0"/>
              <a:t>In [ ]:</a:t>
            </a:r>
          </a:p>
        </p:txBody>
      </p:sp>
      <p:sp>
        <p:nvSpPr>
          <p:cNvPr id="7" name="Rectangle 6"/>
          <p:cNvSpPr/>
          <p:nvPr/>
        </p:nvSpPr>
        <p:spPr>
          <a:xfrm>
            <a:off x="1298448" y="2573781"/>
            <a:ext cx="1014984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53312" y="2557559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clean_cs["Transaction Date"] = clean_cs["Transaction Date"].replace(["UNKNOWN", "ERROR"], np.nan)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868455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298448" y="3195573"/>
            <a:ext cx="1014984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53312" y="3179351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clean_cs.describe()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98448" y="3757756"/>
            <a:ext cx="1014984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1353312" y="3662773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53312" y="3801143"/>
            <a:ext cx="101041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clean_cs.duplicated().sum()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02524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  <a:latin typeface="Aptos"/>
              </a:defRPr>
            </a:pPr>
            <a:r>
              <a:rPr dirty="0"/>
              <a:t>• The notebook replaces UNKNOWN / ERROR in Transaction Date with missing values.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  <a:latin typeface="Aptos"/>
              </a:defRPr>
            </a:pPr>
            <a:r>
              <a:rPr dirty="0"/>
              <a:t>• Final checks include descriptive statistics and a duplicate-row check.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881360" y="651967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ptos"/>
              </a:defRPr>
            </a:pPr>
            <a:r>
              <a:t>15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31520" y="950976"/>
            <a:ext cx="108356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4"/>
                </a:solidFill>
                <a:latin typeface="Aptos Display"/>
              </a:defRPr>
            </a:pPr>
            <a:r>
              <a:t>15. Results — Before vs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r>
              <a:t>Key outcomes supported by the notebook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14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536192"/>
            <a:ext cx="2240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2563EB"/>
                </a:solidFill>
                <a:latin typeface="Aptos Display"/>
              </a:defRPr>
            </a:pPr>
            <a:r>
              <a:t>10,000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84832"/>
            <a:ext cx="2240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Aptos"/>
              </a:defRPr>
            </a:pPr>
            <a:r>
              <a:t>Original rows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371600"/>
            <a:ext cx="2514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11879" y="1536192"/>
            <a:ext cx="2240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0B981"/>
                </a:solidFill>
                <a:latin typeface="Aptos Display"/>
              </a:defRPr>
            </a:pPr>
            <a:r>
              <a:t>10,000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79" y="2084832"/>
            <a:ext cx="2240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Aptos"/>
              </a:defRPr>
            </a:pPr>
            <a:r>
              <a:t>Cleaned rows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514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55080" y="1536192"/>
            <a:ext cx="2240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59E0B"/>
                </a:solidFill>
                <a:latin typeface="Aptos Display"/>
              </a:defRPr>
            </a:pPr>
            <a: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084832"/>
            <a:ext cx="2240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Aptos"/>
              </a:defRPr>
            </a:pPr>
            <a:r>
              <a:t>Duplicate rows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371600"/>
            <a:ext cx="2514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098280" y="1536192"/>
            <a:ext cx="2240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EA5E9"/>
                </a:solidFill>
                <a:latin typeface="Aptos Display"/>
              </a:defRPr>
            </a:pPr>
            <a: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2084832"/>
            <a:ext cx="2240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Aptos"/>
              </a:defRPr>
            </a:pPr>
            <a:r>
              <a:t>Missing Quantity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063240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520" y="3063240"/>
            <a:ext cx="73152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227832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t>Quantity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630168"/>
            <a:ext cx="301752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E293B"/>
                </a:solidFill>
                <a:latin typeface="Aptos"/>
              </a:defRPr>
            </a:pPr>
            <a:r>
              <a:t>138 missing initially → formula-based recovery → remaining gaps filled using item-level median.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063240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89120" y="3063240"/>
            <a:ext cx="73152" cy="1920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17720" y="3227832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t>Price Per Unit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630168"/>
            <a:ext cx="301752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E293B"/>
                </a:solidFill>
                <a:latin typeface="Aptos"/>
              </a:defRPr>
            </a:pPr>
            <a:r>
              <a:t>179 missing initially → derived from Total Spent / Quantity → remaining gaps filled using item-level median.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3063240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046720" y="3063240"/>
            <a:ext cx="73152" cy="1920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20" y="3227832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4"/>
                </a:solidFill>
                <a:latin typeface="Aptos Display"/>
              </a:defRPr>
            </a:pPr>
            <a:r>
              <a:t>Total Spent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630168"/>
            <a:ext cx="301752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E293B"/>
                </a:solidFill>
                <a:latin typeface="Aptos"/>
              </a:defRPr>
            </a:pPr>
            <a:r>
              <a:t>173 missing initially → reconstructed from Quantity × Price Per Unit.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881360" y="651967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ptos"/>
              </a:defRPr>
            </a:pPr>
            <a:r>
              <a:t>16</a:t>
            </a:r>
          </a:p>
        </p:txBody>
      </p:sp>
      <p:cxnSp>
        <p:nvCxnSpPr>
          <p:cNvPr id="31" name="Straight Connector 30"/>
          <p:cNvCxnSpPr/>
          <p:nvPr/>
        </p:nvCxnSpPr>
        <p:spPr>
          <a:xfrm>
            <a:off x="731520" y="950976"/>
            <a:ext cx="108356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4"/>
                </a:solidFill>
                <a:latin typeface="Aptos Display"/>
              </a:defRPr>
            </a:pPr>
            <a:r>
              <a:t>16. Final Step — Export the Cleaned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3559885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endParaRPr lang="en-US" dirty="0" smtClean="0"/>
          </a:p>
          <a:p>
            <a:pPr>
              <a:defRPr sz="1300">
                <a:solidFill>
                  <a:srgbClr val="64748B"/>
                </a:solidFill>
                <a:latin typeface="Aptos"/>
              </a:defRPr>
            </a:pPr>
            <a:r>
              <a:rPr dirty="0" smtClean="0"/>
              <a:t>Save </a:t>
            </a:r>
            <a:r>
              <a:rPr dirty="0"/>
              <a:t>the cleaned </a:t>
            </a:r>
            <a:r>
              <a:rPr dirty="0" err="1"/>
              <a:t>dataframe</a:t>
            </a:r>
            <a:r>
              <a:rPr dirty="0"/>
              <a:t> for further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76178"/>
            <a:ext cx="10881360" cy="1355211"/>
          </a:xfrm>
          <a:prstGeom prst="roundRect">
            <a:avLst/>
          </a:prstGeom>
          <a:solidFill>
            <a:srgbClr val="1F2937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1500" y="200935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onsolas"/>
              </a:defRPr>
            </a:pPr>
            <a:r>
              <a:rPr dirty="0"/>
              <a:t>In [ ]:</a:t>
            </a:r>
          </a:p>
        </p:txBody>
      </p:sp>
      <p:sp>
        <p:nvSpPr>
          <p:cNvPr id="7" name="Rectangle 6"/>
          <p:cNvSpPr/>
          <p:nvPr/>
        </p:nvSpPr>
        <p:spPr>
          <a:xfrm>
            <a:off x="1344168" y="2039804"/>
            <a:ext cx="1005840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99032" y="2032210"/>
            <a:ext cx="1001268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clean_cs.to_csv("Cleaned_Cafe_Sales.csv", index=False)</a:t>
            </a:r>
          </a:p>
        </p:txBody>
      </p:sp>
      <p:sp>
        <p:nvSpPr>
          <p:cNvPr id="9" name="Rectangle 8"/>
          <p:cNvSpPr/>
          <p:nvPr/>
        </p:nvSpPr>
        <p:spPr>
          <a:xfrm>
            <a:off x="1344168" y="2350700"/>
            <a:ext cx="10058400" cy="32918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99032" y="2343106"/>
            <a:ext cx="1001268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E2E8F0"/>
                </a:solidFill>
                <a:latin typeface="Consolas"/>
              </a:defRPr>
            </a:pPr>
            <a:r>
              <a:t>print("Export Done")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730458"/>
            <a:ext cx="10149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rPr dirty="0"/>
              <a:t>• Output file created by the notebook: Cleaned_Cafe_Sales.csv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rPr dirty="0"/>
              <a:t>• The cleaned dataset is now ready for downstream analysis, visualization or machine-learning workflows.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881360" y="651967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ptos"/>
              </a:defRPr>
            </a:pPr>
            <a:r>
              <a:t>17</a:t>
            </a:r>
          </a:p>
        </p:txBody>
      </p:sp>
      <p:cxnSp>
        <p:nvCxnSpPr>
          <p:cNvPr id="14" name="Straight Connector 13"/>
          <p:cNvCxnSpPr/>
          <p:nvPr/>
        </p:nvCxnSpPr>
        <p:spPr>
          <a:xfrm>
            <a:off x="731520" y="950976"/>
            <a:ext cx="108356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ptos Display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2761525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  <a:latin typeface="Aptos"/>
              </a:defRPr>
            </a:pPr>
            <a:endParaRPr lang="en-US" dirty="0" smtClean="0"/>
          </a:p>
          <a:p>
            <a:pPr>
              <a:defRPr sz="1300">
                <a:solidFill>
                  <a:srgbClr val="FFFFFF"/>
                </a:solidFill>
                <a:latin typeface="Aptos"/>
              </a:defRPr>
            </a:pPr>
            <a:r>
              <a:rPr dirty="0" smtClean="0"/>
              <a:t>What </a:t>
            </a:r>
            <a:r>
              <a:rPr dirty="0"/>
              <a:t>the mini project demonstrates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332720" cy="254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Aptos"/>
              </a:defRPr>
            </a:pPr>
            <a:endParaRPr lang="en-US" dirty="0" smtClean="0"/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rPr dirty="0" smtClean="0"/>
              <a:t>• </a:t>
            </a:r>
            <a:r>
              <a:rPr dirty="0"/>
              <a:t>Data cleaning is not only about removing rows — it is about understanding the data and applying defensible rules.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rPr dirty="0"/>
              <a:t>• The notebook combines detection, transformation, calculation, imputation and validation.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rPr dirty="0"/>
              <a:t>• Relationships between Quantity, Price Per Unit and Total Spent are used to recover missing numeric values.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rPr dirty="0"/>
              <a:t>• The final dataset preserves all 10,000 rows while improving consistency and completeness.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4206240"/>
            <a:ext cx="1988558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93C5FD"/>
                </a:solidFill>
                <a:latin typeface="Aptos Display"/>
              </a:defRPr>
            </a:pPr>
            <a:endParaRPr lang="en-US" dirty="0" smtClean="0"/>
          </a:p>
          <a:p>
            <a:pPr>
              <a:defRPr sz="2800" b="1">
                <a:solidFill>
                  <a:srgbClr val="93C5FD"/>
                </a:solidFill>
                <a:latin typeface="Aptos Display"/>
              </a:defRPr>
            </a:pPr>
            <a:r>
              <a:rPr dirty="0" smtClean="0"/>
              <a:t>Thank </a:t>
            </a:r>
            <a:r>
              <a:rPr dirty="0"/>
              <a:t>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81360" y="6519672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ptos"/>
              </a:defRPr>
            </a:pPr>
            <a:r>
              <a:t>18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731520" y="950976"/>
            <a:ext cx="108356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</TotalTime>
  <Words>1533</Words>
  <Application>Microsoft Office PowerPoint</Application>
  <PresentationFormat>Widescreen</PresentationFormat>
  <Paragraphs>235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Calibri</vt:lpstr>
      <vt:lpstr>Calibri Light</vt:lpstr>
      <vt:lpstr>Consolas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PC082-SARANYA</dc:creator>
  <cp:keywords/>
  <dc:description>generated using python-pptx</dc:description>
  <cp:lastModifiedBy>PC082-SARANYA</cp:lastModifiedBy>
  <cp:revision>7</cp:revision>
  <dcterms:created xsi:type="dcterms:W3CDTF">2013-01-27T09:14:16Z</dcterms:created>
  <dcterms:modified xsi:type="dcterms:W3CDTF">2026-09-21T12:32:35Z</dcterms:modified>
  <cp:category/>
</cp:coreProperties>
</file>